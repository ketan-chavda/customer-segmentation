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664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D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+ K-Means Clustering for E-Commerce Retail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2331720"/>
            <a:ext cx="4114800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2514600"/>
            <a:ext cx="2011680" cy="960120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514600"/>
            <a:ext cx="201168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5968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 rows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" y="3090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2514600"/>
            <a:ext cx="2011680" cy="960120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87752" y="2514600"/>
            <a:ext cx="201168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2587752" y="25968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~4,300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87752" y="3090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Customers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64024" y="2514600"/>
            <a:ext cx="2011680" cy="960120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64024" y="2514600"/>
            <a:ext cx="201168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4764024" y="25968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+ K-Means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64024" y="3090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0296" y="2514600"/>
            <a:ext cx="2011680" cy="960120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0296" y="2514600"/>
            <a:ext cx="201168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6940296" y="25968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clusters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40296" y="3090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703320"/>
            <a:ext cx="201168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Champions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87752" y="3703320"/>
            <a:ext cx="2011680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6" name="Text 24"/>
          <p:cNvSpPr/>
          <p:nvPr/>
        </p:nvSpPr>
        <p:spPr>
          <a:xfrm>
            <a:off x="2587752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💛 Loyal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64024" y="3703320"/>
            <a:ext cx="2011680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4764024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At Risk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40296" y="3703320"/>
            <a:ext cx="201168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6940296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Lost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DA/BA Portfolio — Project 5 of 5  | 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50292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RFM Framework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47672"/>
            <a:ext cx="50292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4767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2130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35224"/>
            <a:ext cx="50292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3522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31181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Pipeline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22776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922776"/>
            <a:ext cx="50292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2277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41056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Key Findings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96012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960120"/>
            <a:ext cx="50292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960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68112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Feature Engineering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947672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947672"/>
            <a:ext cx="50292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94767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68112" y="2130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2935224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935224"/>
            <a:ext cx="50292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93522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68112" y="31181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Profiling &amp; Snake Plot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3922776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922776"/>
            <a:ext cx="50292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92277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68112" y="41056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RFM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41248"/>
            <a:ext cx="8412480" cy="8686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686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marketing wastes budget on low-value customers while under-investing in high-value ones. Segmentation fixes this.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26974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74520"/>
            <a:ext cx="269748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1993392"/>
            <a:ext cx="685800" cy="6858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9933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27889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242316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490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= Good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(bought recently)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874520"/>
            <a:ext cx="26974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874520"/>
            <a:ext cx="269748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Shape 15"/>
          <p:cNvSpPr/>
          <p:nvPr/>
        </p:nvSpPr>
        <p:spPr>
          <a:xfrm>
            <a:off x="4206240" y="1993392"/>
            <a:ext cx="685800" cy="6858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19933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0" y="27889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10128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orders placed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3749040"/>
            <a:ext cx="242316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7490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Good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(loyal buyer)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874520"/>
            <a:ext cx="26974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874520"/>
            <a:ext cx="269748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0" y="1993392"/>
            <a:ext cx="685800" cy="6858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19933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35040" y="27889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44768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spent (£)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749040"/>
            <a:ext cx="2423160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37490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Good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value)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50292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captures the 3 most predictive dimensions of customer value in any transaction-based business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Cleaning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41248"/>
            <a:ext cx="1965960" cy="8686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686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841248"/>
            <a:ext cx="1965960" cy="8686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8686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2009-11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1325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41248"/>
            <a:ext cx="1965960" cy="8686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8686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~4,300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1325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Customers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75120" y="841248"/>
            <a:ext cx="1965960" cy="8686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8686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75120" y="1325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1874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240280"/>
            <a:ext cx="502920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" y="2276856"/>
            <a:ext cx="256032" cy="25603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2276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" y="228600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missing Customer ID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624328"/>
            <a:ext cx="502920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" y="2660904"/>
            <a:ext cx="256032" cy="25603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2660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" y="26700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cancelled invoices ('C' prefix)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008376"/>
            <a:ext cx="502920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" y="3044952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3044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" y="30540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Quantity &lt;= 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392424"/>
            <a:ext cx="502920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" y="3429000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" y="343814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Price &lt;= 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776472"/>
            <a:ext cx="502920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8912" y="3813048"/>
            <a:ext cx="256032" cy="256032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" y="382219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non-product codes (POST, D, M…)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160520"/>
            <a:ext cx="502920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38912" y="4197096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40" name="Text 38"/>
          <p:cNvSpPr/>
          <p:nvPr/>
        </p:nvSpPr>
        <p:spPr>
          <a:xfrm>
            <a:off x="438912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" y="42062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UK customers only (85%+ of data)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5760" y="4544568"/>
            <a:ext cx="502920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38912" y="4581144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" y="4581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672" y="45902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TotalPrice = Quantity × Price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6928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UK only?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669280" y="2240280"/>
            <a:ext cx="32004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669280" y="2240280"/>
            <a:ext cx="64008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9" name="Text 47"/>
          <p:cNvSpPr/>
          <p:nvPr/>
        </p:nvSpPr>
        <p:spPr>
          <a:xfrm>
            <a:off x="5806440" y="23042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 of all transactions are UK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69280" y="2898648"/>
            <a:ext cx="32004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669280" y="2898648"/>
            <a:ext cx="64008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2" name="Text 50"/>
          <p:cNvSpPr/>
          <p:nvPr/>
        </p:nvSpPr>
        <p:spPr>
          <a:xfrm>
            <a:off x="5806440" y="296265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currency/cultural bias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669280" y="3557016"/>
            <a:ext cx="32004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669280" y="3557016"/>
            <a:ext cx="64008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5" name="Text 53"/>
          <p:cNvSpPr/>
          <p:nvPr/>
        </p:nvSpPr>
        <p:spPr>
          <a:xfrm>
            <a:off x="5806440" y="362102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Cleaner, more comparable segments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669280" y="4215384"/>
            <a:ext cx="32004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669280" y="4215384"/>
            <a:ext cx="64008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8" name="Text 56"/>
          <p:cNvSpPr/>
          <p:nvPr/>
        </p:nvSpPr>
        <p:spPr>
          <a:xfrm>
            <a:off x="5806440" y="42793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~4,300 customers — sufficient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412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5029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322576"/>
            <a:ext cx="164592" cy="438912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8" name="Shape 6"/>
          <p:cNvSpPr/>
          <p:nvPr/>
        </p:nvSpPr>
        <p:spPr>
          <a:xfrm>
            <a:off x="699516" y="2176272"/>
            <a:ext cx="164592" cy="58521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2249424"/>
            <a:ext cx="164592" cy="512064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0" name="Shape 8"/>
          <p:cNvSpPr/>
          <p:nvPr/>
        </p:nvSpPr>
        <p:spPr>
          <a:xfrm>
            <a:off x="1092708" y="2103120"/>
            <a:ext cx="164592" cy="658368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1" name="Shape 9"/>
          <p:cNvSpPr/>
          <p:nvPr/>
        </p:nvSpPr>
        <p:spPr>
          <a:xfrm>
            <a:off x="1289304" y="2029968"/>
            <a:ext cx="164592" cy="731520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2" name="Shape 10"/>
          <p:cNvSpPr/>
          <p:nvPr/>
        </p:nvSpPr>
        <p:spPr>
          <a:xfrm>
            <a:off x="1485900" y="2147011"/>
            <a:ext cx="164592" cy="614477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1682496" y="2059229"/>
            <a:ext cx="164592" cy="702259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4" name="Shape 12"/>
          <p:cNvSpPr/>
          <p:nvPr/>
        </p:nvSpPr>
        <p:spPr>
          <a:xfrm>
            <a:off x="1879092" y="1956816"/>
            <a:ext cx="164592" cy="804672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2075688" y="1737360"/>
            <a:ext cx="164592" cy="1024128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6" name="Shape 14"/>
          <p:cNvSpPr/>
          <p:nvPr/>
        </p:nvSpPr>
        <p:spPr>
          <a:xfrm>
            <a:off x="2272284" y="1371600"/>
            <a:ext cx="164592" cy="13898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1298448"/>
            <a:ext cx="164592" cy="1463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Shape 16"/>
          <p:cNvSpPr/>
          <p:nvPr/>
        </p:nvSpPr>
        <p:spPr>
          <a:xfrm>
            <a:off x="2665476" y="1883664"/>
            <a:ext cx="164592" cy="877824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9" name="Shape 17"/>
          <p:cNvSpPr/>
          <p:nvPr/>
        </p:nvSpPr>
        <p:spPr>
          <a:xfrm>
            <a:off x="2862072" y="2176272"/>
            <a:ext cx="164592" cy="58521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3058668" y="2029968"/>
            <a:ext cx="164592" cy="731520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1" name="Shape 19"/>
          <p:cNvSpPr/>
          <p:nvPr/>
        </p:nvSpPr>
        <p:spPr>
          <a:xfrm>
            <a:off x="3255264" y="1956816"/>
            <a:ext cx="164592" cy="804672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2" name="Shape 20"/>
          <p:cNvSpPr/>
          <p:nvPr/>
        </p:nvSpPr>
        <p:spPr>
          <a:xfrm>
            <a:off x="3451860" y="1883664"/>
            <a:ext cx="164592" cy="877824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3648456" y="1810512"/>
            <a:ext cx="164592" cy="95097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5052" y="1737360"/>
            <a:ext cx="164592" cy="1024128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4041648" y="1591056"/>
            <a:ext cx="164592" cy="1170432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6" name="Shape 24"/>
          <p:cNvSpPr/>
          <p:nvPr/>
        </p:nvSpPr>
        <p:spPr>
          <a:xfrm>
            <a:off x="4238244" y="1517904"/>
            <a:ext cx="164592" cy="12435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Shape 25"/>
          <p:cNvSpPr/>
          <p:nvPr/>
        </p:nvSpPr>
        <p:spPr>
          <a:xfrm>
            <a:off x="4434840" y="1444752"/>
            <a:ext cx="164592" cy="131673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8" name="Shape 26"/>
          <p:cNvSpPr/>
          <p:nvPr/>
        </p:nvSpPr>
        <p:spPr>
          <a:xfrm>
            <a:off x="4631436" y="1371600"/>
            <a:ext cx="164592" cy="13898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9" name="Shape 27"/>
          <p:cNvSpPr/>
          <p:nvPr/>
        </p:nvSpPr>
        <p:spPr>
          <a:xfrm>
            <a:off x="4828032" y="1298448"/>
            <a:ext cx="164592" cy="1463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4628" y="2029968"/>
            <a:ext cx="164592" cy="731520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834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Peak (Oct-Nov each year)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77840" y="8412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Timing Patterns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577840" y="1207008"/>
            <a:ext cx="32918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235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172200" y="1252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1481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Tue-Thu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88352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Mid-week peak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77840" y="1865376"/>
            <a:ext cx="32918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2356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🕙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172200" y="19110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Hour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72200" y="21396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10AM-2PM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88352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emails then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577840" y="2523744"/>
            <a:ext cx="32918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62356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🎄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172200" y="25694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72200" y="27980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Oct-Nov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88352" y="2642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 gifting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3246120"/>
            <a:ext cx="202996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3246120"/>
            <a:ext cx="2029968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332841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457200" y="378561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Skew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409651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of customers generate ~80% of revenue — classic Pareto effect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542032" y="3246120"/>
            <a:ext cx="202996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542032" y="3246120"/>
            <a:ext cx="2029968" cy="6400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5" name="Text 53"/>
          <p:cNvSpPr/>
          <p:nvPr/>
        </p:nvSpPr>
        <p:spPr>
          <a:xfrm>
            <a:off x="2542032" y="332841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2633472" y="378561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633472" y="409651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customers bought only once — opportunity for retention campaigns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18304" y="3246120"/>
            <a:ext cx="202996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718304" y="3246120"/>
            <a:ext cx="2029968" cy="640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0" name="Text 58"/>
          <p:cNvSpPr/>
          <p:nvPr/>
        </p:nvSpPr>
        <p:spPr>
          <a:xfrm>
            <a:off x="4718304" y="332841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4809744" y="378561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Size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09744" y="409651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orders are small — upselling to loyal customers has strong upside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94576" y="3246120"/>
            <a:ext cx="202996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94576" y="3246120"/>
            <a:ext cx="2029968" cy="640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65" name="Text 63"/>
          <p:cNvSpPr/>
          <p:nvPr/>
        </p:nvSpPr>
        <p:spPr>
          <a:xfrm>
            <a:off x="6894576" y="332841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6986016" y="378561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Dominance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986016" y="409651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 of transactions from UK — focused segmentation is appropriate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Feature Engineering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192024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R, F, 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04288" y="107899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42032" y="868680"/>
            <a:ext cx="1920240" cy="91440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868680"/>
            <a:ext cx="19202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(reduce skew)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107899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18304" y="868680"/>
            <a:ext cx="1920240" cy="91440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18304" y="868680"/>
            <a:ext cx="19202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(normalise)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56832" y="107899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94576" y="868680"/>
            <a:ext cx="1920240" cy="914400"/>
          </a:xfrm>
          <a:prstGeom prst="rect">
            <a:avLst/>
          </a:prstGeom>
          <a:solidFill>
            <a:srgbClr val="2ECC7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94576" y="868680"/>
            <a:ext cx="19202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1965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 Transform?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5029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450592"/>
            <a:ext cx="182880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4780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7249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Skewed (0-700+ days)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017520" y="24963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~Normal after log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34640" y="2496312"/>
            <a:ext cx="137160" cy="4572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200400"/>
            <a:ext cx="18288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227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3474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Most buy 1-5x, few 100x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017520" y="3246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Smoother spread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34640" y="3246120"/>
            <a:ext cx="137160" cy="4572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3950208"/>
            <a:ext cx="182880" cy="548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977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2245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Few spend £10K+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017520" y="39959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Outlier dampened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34640" y="3995928"/>
            <a:ext cx="137160" cy="4572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1965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StandardScaler?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69280" y="2331720"/>
            <a:ext cx="32004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52160" y="24505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uses Euclidean distance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852160" y="29077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Monetary: range £1 – £10K+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52160" y="33649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range 1 – 700+ days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52160" y="38221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scaling: Monetary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the distance calc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52160" y="42793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scaling: all features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equally 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956048"/>
            <a:ext cx="8412480" cy="73152"/>
          </a:xfrm>
          <a:prstGeom prst="rect">
            <a:avLst/>
          </a:prstGeom>
          <a:solidFill>
            <a:srgbClr val="0D737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41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3108960"/>
            <a:ext cx="411480" cy="-54864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560320"/>
            <a:ext cx="411480" cy="-384048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176272"/>
            <a:ext cx="411480" cy="-256032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920240"/>
            <a:ext cx="411480" cy="-13716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1783080"/>
            <a:ext cx="411480" cy="-9144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691640"/>
            <a:ext cx="411480" cy="-64008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1627632"/>
            <a:ext cx="411480" cy="-4572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581912"/>
            <a:ext cx="411480" cy="-27432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" y="3054096"/>
            <a:ext cx="109728" cy="1097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950976" y="2505456"/>
            <a:ext cx="109728" cy="1097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362456" y="2121408"/>
            <a:ext cx="109728" cy="1097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773936" y="1865376"/>
            <a:ext cx="109728" cy="1097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2185416" y="1728216"/>
            <a:ext cx="109728" cy="1097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596896" y="1636776"/>
            <a:ext cx="109728" cy="1097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3008376" y="1572768"/>
            <a:ext cx="109728" cy="1097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3419856" y="1527048"/>
            <a:ext cx="109728" cy="1097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3831336" y="1499616"/>
            <a:ext cx="109728" cy="1097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746504" y="1837944"/>
            <a:ext cx="164592" cy="16459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1691640" y="1719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127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(WCSS)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841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188720"/>
            <a:ext cx="41148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83480" y="2651760"/>
            <a:ext cx="411480" cy="-274320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94960" y="2377440"/>
            <a:ext cx="411480" cy="-228600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6440" y="2148840"/>
            <a:ext cx="411480" cy="-210312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1938528"/>
            <a:ext cx="411480" cy="146304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2084832"/>
            <a:ext cx="411480" cy="91440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2176272"/>
            <a:ext cx="411480" cy="36576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0" y="2212848"/>
            <a:ext cx="411480" cy="18288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0" y="2231136"/>
            <a:ext cx="411480" cy="18288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28616" y="2596896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8" name="Shape 36"/>
          <p:cNvSpPr/>
          <p:nvPr/>
        </p:nvSpPr>
        <p:spPr>
          <a:xfrm>
            <a:off x="5340096" y="2322576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9" name="Shape 37"/>
          <p:cNvSpPr/>
          <p:nvPr/>
        </p:nvSpPr>
        <p:spPr>
          <a:xfrm>
            <a:off x="5751576" y="2093976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40" name="Shape 38"/>
          <p:cNvSpPr/>
          <p:nvPr/>
        </p:nvSpPr>
        <p:spPr>
          <a:xfrm>
            <a:off x="6163056" y="1883664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41" name="Shape 39"/>
          <p:cNvSpPr/>
          <p:nvPr/>
        </p:nvSpPr>
        <p:spPr>
          <a:xfrm>
            <a:off x="6574536" y="2029968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42" name="Shape 40"/>
          <p:cNvSpPr/>
          <p:nvPr/>
        </p:nvSpPr>
        <p:spPr>
          <a:xfrm>
            <a:off x="6986016" y="2121408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43" name="Shape 41"/>
          <p:cNvSpPr/>
          <p:nvPr/>
        </p:nvSpPr>
        <p:spPr>
          <a:xfrm>
            <a:off x="7397496" y="2157984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44" name="Shape 42"/>
          <p:cNvSpPr/>
          <p:nvPr/>
        </p:nvSpPr>
        <p:spPr>
          <a:xfrm>
            <a:off x="7808976" y="2176272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45" name="Shape 43"/>
          <p:cNvSpPr/>
          <p:nvPr/>
        </p:nvSpPr>
        <p:spPr>
          <a:xfrm>
            <a:off x="8220456" y="2194560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46" name="Shape 44"/>
          <p:cNvSpPr/>
          <p:nvPr/>
        </p:nvSpPr>
        <p:spPr>
          <a:xfrm>
            <a:off x="6135624" y="1856232"/>
            <a:ext cx="164592" cy="16459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7" name="Text 45"/>
          <p:cNvSpPr/>
          <p:nvPr/>
        </p:nvSpPr>
        <p:spPr>
          <a:xfrm>
            <a:off x="6035040" y="1719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K=4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46320" y="3127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(higher = better)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3429000"/>
            <a:ext cx="8412480" cy="15087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 = 4?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" y="391363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Elbow and Silhouette methods converge on K=4 as the optimal solution.  </a:t>
            </a:r>
            <a:pPr indent="0" marL="0">
              <a:buNone/>
            </a:pPr>
            <a:r>
              <a:rPr lang="en-US" sz="11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 map cleanly to Champions / Loyal / At Risk / Lost — actionable by any marketing team without being too granular.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Profiles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32688"/>
            <a:ext cx="8412480" cy="868680"/>
          </a:xfrm>
          <a:prstGeom prst="rect">
            <a:avLst/>
          </a:prstGeom>
          <a:solidFill>
            <a:srgbClr val="EBF8F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32688"/>
            <a:ext cx="64008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Champions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987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51760" y="12252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(very recent)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987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0" y="12252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987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6480" y="12252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9520" y="987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Share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89520" y="12252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share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938528"/>
            <a:ext cx="8412480" cy="86868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938528"/>
            <a:ext cx="64008" cy="8686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💛 Loyal Customers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1993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51760" y="22311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Low–Moderate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1993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0" y="22311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1993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22311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Moderate+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1993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Share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89520" y="22311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largest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2944368"/>
            <a:ext cx="8412480" cy="868680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944368"/>
            <a:ext cx="64008" cy="8686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At Risk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51760" y="2999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51760" y="32369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(fading)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0" y="2999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0" y="32369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2999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32369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2999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Share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89520" y="32369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950208"/>
            <a:ext cx="8412480" cy="868680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950208"/>
            <a:ext cx="64008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Lost / Inactive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651760" y="4005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651760" y="42428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89120" y="4005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389120" y="42428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26480" y="4005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42428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589520" y="4005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Share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589520" y="42428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4983480"/>
            <a:ext cx="8412480" cy="914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Recency = bought more recently (GOOD)  |  Higher Frequency &amp; Monetary = GOOD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 Plot — Segment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RFM scores per segment (above 0 = above average, below 0 = below average)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743200"/>
            <a:ext cx="73152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2920" y="267004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1645920"/>
            <a:ext cx="2560320" cy="1920240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3566160"/>
            <a:ext cx="2560320" cy="-45720"/>
          </a:xfrm>
          <a:prstGeom prst="line">
            <a:avLst/>
          </a:prstGeom>
          <a:noFill/>
          <a:ln w="31750">
            <a:solidFill>
              <a:srgbClr val="0D73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03704" y="1563624"/>
            <a:ext cx="164592" cy="16459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Shape 13"/>
          <p:cNvSpPr/>
          <p:nvPr/>
        </p:nvSpPr>
        <p:spPr>
          <a:xfrm>
            <a:off x="4764024" y="3483864"/>
            <a:ext cx="164592" cy="16459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6" name="Shape 14"/>
          <p:cNvSpPr/>
          <p:nvPr/>
        </p:nvSpPr>
        <p:spPr>
          <a:xfrm>
            <a:off x="7324344" y="3438144"/>
            <a:ext cx="164592" cy="16459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0" y="2377440"/>
            <a:ext cx="2560320" cy="640080"/>
          </a:xfrm>
          <a:prstGeom prst="line">
            <a:avLst/>
          </a:prstGeom>
          <a:noFill/>
          <a:ln w="31750">
            <a:solidFill>
              <a:srgbClr val="2980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017520"/>
            <a:ext cx="2560320" cy="-45720"/>
          </a:xfrm>
          <a:prstGeom prst="line">
            <a:avLst/>
          </a:prstGeom>
          <a:noFill/>
          <a:ln w="31750">
            <a:solidFill>
              <a:srgbClr val="2980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03704" y="2295144"/>
            <a:ext cx="164592" cy="164592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0" name="Shape 18"/>
          <p:cNvSpPr/>
          <p:nvPr/>
        </p:nvSpPr>
        <p:spPr>
          <a:xfrm>
            <a:off x="4764024" y="2935224"/>
            <a:ext cx="164592" cy="164592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1" name="Shape 19"/>
          <p:cNvSpPr/>
          <p:nvPr/>
        </p:nvSpPr>
        <p:spPr>
          <a:xfrm>
            <a:off x="7324344" y="2889504"/>
            <a:ext cx="164592" cy="164592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0" y="3200400"/>
            <a:ext cx="2560320" cy="-548640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651760"/>
            <a:ext cx="2560320" cy="-73152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03704" y="3118104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5" name="Shape 23"/>
          <p:cNvSpPr/>
          <p:nvPr/>
        </p:nvSpPr>
        <p:spPr>
          <a:xfrm>
            <a:off x="4764024" y="2569464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6" name="Shape 24"/>
          <p:cNvSpPr/>
          <p:nvPr/>
        </p:nvSpPr>
        <p:spPr>
          <a:xfrm>
            <a:off x="7324344" y="2496312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0" y="3794760"/>
            <a:ext cx="2560320" cy="-1783080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011680"/>
            <a:ext cx="2560320" cy="0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03704" y="3712464"/>
            <a:ext cx="164592" cy="16459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0" name="Shape 28"/>
          <p:cNvSpPr/>
          <p:nvPr/>
        </p:nvSpPr>
        <p:spPr>
          <a:xfrm>
            <a:off x="4764024" y="1929384"/>
            <a:ext cx="164592" cy="16459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1" name="Shape 29"/>
          <p:cNvSpPr/>
          <p:nvPr/>
        </p:nvSpPr>
        <p:spPr>
          <a:xfrm>
            <a:off x="7324344" y="1929384"/>
            <a:ext cx="164592" cy="16459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5840" y="4526280"/>
            <a:ext cx="320040" cy="10972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1389888" y="44622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17520" y="4526280"/>
            <a:ext cx="320040" cy="10972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5" name="Text 33"/>
          <p:cNvSpPr/>
          <p:nvPr/>
        </p:nvSpPr>
        <p:spPr>
          <a:xfrm>
            <a:off x="3401568" y="44622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4526280"/>
            <a:ext cx="320040" cy="1097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7" name="Text 35"/>
          <p:cNvSpPr/>
          <p:nvPr/>
        </p:nvSpPr>
        <p:spPr>
          <a:xfrm>
            <a:off x="5413248" y="44622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4526280"/>
            <a:ext cx="320040" cy="10972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9" name="Text 37"/>
          <p:cNvSpPr/>
          <p:nvPr/>
        </p:nvSpPr>
        <p:spPr>
          <a:xfrm>
            <a:off x="7424928" y="44622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/ Inactive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Champions: High F &amp; M, Low R ✓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6344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Lost: High R, Low F &amp; M — fully churned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32688"/>
            <a:ext cx="4206240" cy="1920240"/>
          </a:xfrm>
          <a:prstGeom prst="rect">
            <a:avLst/>
          </a:prstGeom>
          <a:solidFill>
            <a:srgbClr val="EBF8F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32688"/>
            <a:ext cx="420624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42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Champions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loyalty programme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to new products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reviews &amp; referrals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408176"/>
            <a:ext cx="132588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408176"/>
            <a:ext cx="13258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App push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1847088"/>
            <a:ext cx="1325880" cy="384048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847088"/>
            <a:ext cx="13258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Churn rate, NPS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73168" y="932688"/>
            <a:ext cx="4206240" cy="192024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73168" y="932688"/>
            <a:ext cx="4206240" cy="731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1042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💛 Loyal Customers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0328" y="143560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recommendations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/ membership upsell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 offers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16368" y="1408176"/>
            <a:ext cx="1325880" cy="38404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7516368" y="1408176"/>
            <a:ext cx="13258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Landing page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516368" y="1847088"/>
            <a:ext cx="1325880" cy="384048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20" name="Text 18"/>
          <p:cNvSpPr/>
          <p:nvPr/>
        </p:nvSpPr>
        <p:spPr>
          <a:xfrm>
            <a:off x="7516368" y="1847088"/>
            <a:ext cx="13258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Upgrade rate, Frequency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4206240" cy="1920240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035808"/>
            <a:ext cx="420624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1455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At 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53872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 miss you' campaign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 time-limited discount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on disengagement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0" y="3511296"/>
            <a:ext cx="1325880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0" y="3511296"/>
            <a:ext cx="13258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SMS + Retargeting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08960" y="3950208"/>
            <a:ext cx="1325880" cy="384048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28" name="Text 26"/>
          <p:cNvSpPr/>
          <p:nvPr/>
        </p:nvSpPr>
        <p:spPr>
          <a:xfrm>
            <a:off x="3108960" y="3950208"/>
            <a:ext cx="13258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Re-activation in 30d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73168" y="3035808"/>
            <a:ext cx="4206240" cy="1920240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3035808"/>
            <a:ext cx="420624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4910328" y="31455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Lost / Inactive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10328" y="353872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final offer (30%+ discount)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response → stop spending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Post-exit survey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16368" y="3511296"/>
            <a:ext cx="1325880" cy="38404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7516368" y="3511296"/>
            <a:ext cx="13258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only (last attempt)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516368" y="3950208"/>
            <a:ext cx="1325880" cy="384048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36" name="Text 34"/>
          <p:cNvSpPr/>
          <p:nvPr/>
        </p:nvSpPr>
        <p:spPr>
          <a:xfrm>
            <a:off x="7516368" y="3950208"/>
            <a:ext cx="13258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If &lt;5% → remove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Allocation: Champions 30-35%  |  Loyal 35-40%  |  At Risk 20-25%  |  Lost 5-10%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822960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932688"/>
            <a:ext cx="8229600" cy="566928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7840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10058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distinct customer segments identified using RFM + K-Means with strong statistical validation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91056"/>
            <a:ext cx="8229600" cy="566928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3677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16642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drive disproportionate revenue — the Pareto effect is clearly visible in this dataset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249424"/>
            <a:ext cx="8229600" cy="566928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29514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78992" y="232257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transformation was critical — raw RFM features were too skewed for reliable K-Means clustering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907792"/>
            <a:ext cx="8229600" cy="566928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95351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78992" y="298094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validated by both Elbow Method and Silhouette Score — balances statistics with business clarity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566160"/>
            <a:ext cx="8229600" cy="566928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6118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8992" y="36393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segment = highest ROI opportunity — recoverable revenue with a targeted win-back campaign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224528"/>
            <a:ext cx="8229600" cy="566928"/>
          </a:xfrm>
          <a:prstGeom prst="rect">
            <a:avLst/>
          </a:prstGeom>
          <a:solidFill>
            <a:srgbClr val="16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27024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78992" y="4297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seasonality must inform campaign timing — segment strategies need to align with the gifting peak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828032"/>
            <a:ext cx="82296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of 5 — DA/BA Portfolio Complete  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</dc:title>
  <dc:subject>PptxGenJS Presentation</dc:subject>
  <dc:creator>PptxGenJS</dc:creator>
  <cp:lastModifiedBy>PptxGenJS</cp:lastModifiedBy>
  <cp:revision>1</cp:revision>
  <dcterms:created xsi:type="dcterms:W3CDTF">2026-03-18T21:13:23Z</dcterms:created>
  <dcterms:modified xsi:type="dcterms:W3CDTF">2026-03-18T21:13:23Z</dcterms:modified>
</cp:coreProperties>
</file>